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62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F8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050a9b46-347a-4db4-8520-cc3b32339325?pitch-bytes=54019&amp;pitch-content-type=image%2Fjpeg"/>
          <p:cNvPicPr>
            <a:picLocks noChangeAspect="1"/>
          </p:cNvPicPr>
          <p:nvPr/>
        </p:nvPicPr>
        <p:blipFill>
          <a:blip r:embed="rId3"/>
          <a:srcRect t="10096" b="1249"/>
          <a:stretch/>
        </p:blipFill>
        <p:spPr>
          <a:xfrm>
            <a:off x="-15" y="0"/>
            <a:ext cx="390525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23812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5" name="Shape 1"/>
          <p:cNvSpPr/>
          <p:nvPr/>
        </p:nvSpPr>
        <p:spPr>
          <a:xfrm>
            <a:off x="9048788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6" name="Shape 2"/>
          <p:cNvSpPr/>
          <p:nvPr/>
        </p:nvSpPr>
        <p:spPr>
          <a:xfrm>
            <a:off x="356" y="-23812"/>
            <a:ext cx="9143398" cy="119063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7" name="Shape 3"/>
          <p:cNvSpPr/>
          <p:nvPr/>
        </p:nvSpPr>
        <p:spPr>
          <a:xfrm>
            <a:off x="356" y="5053064"/>
            <a:ext cx="9143398" cy="119062"/>
          </a:xfrm>
          <a:prstGeom prst="roundRect">
            <a:avLst>
              <a:gd name="adj" fmla="val -768003"/>
            </a:avLst>
          </a:prstGeom>
          <a:solidFill>
            <a:srgbClr val="F8FCF4"/>
          </a:solidFill>
          <a:ln/>
        </p:spPr>
      </p:sp>
      <p:sp>
        <p:nvSpPr>
          <p:cNvPr id="8" name="Text 4"/>
          <p:cNvSpPr/>
          <p:nvPr/>
        </p:nvSpPr>
        <p:spPr>
          <a:xfrm>
            <a:off x="4572777" y="2850237"/>
            <a:ext cx="39048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3750"/>
              </a:lnSpc>
            </a:pPr>
            <a:r>
              <a:rPr lang="en-US" sz="38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Money-Wise </a:t>
            </a:r>
            <a:endParaRPr lang="en-US" sz="3750" dirty="0"/>
          </a:p>
        </p:txBody>
      </p:sp>
      <p:sp>
        <p:nvSpPr>
          <p:cNvPr id="9" name="Text 5"/>
          <p:cNvSpPr/>
          <p:nvPr/>
        </p:nvSpPr>
        <p:spPr>
          <a:xfrm>
            <a:off x="4572395" y="2667264"/>
            <a:ext cx="3904766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F8FC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FINANCE TECHNOLOGIES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67670" y="3419947"/>
            <a:ext cx="4100066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F8FC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FREEDOM, ONE SMART BUDGET AT A TIME!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images.unsplash.com/photo-1599202875854-23b7cd490ff4?crop=entropy&amp;cs=tinysrgb&amp;fit=max&amp;fm=jpg&amp;ixid=M3wyMTIyMnwwfDF8c2VhcmNofDF8fGZpbmFuY2UlMjBhcHB8ZW58MXwxfHx8MTc0MDQ2OTk1NHww&amp;ixlib=rb-4.0.3&amp;q=80&amp;w=1080"/>
          <p:cNvPicPr>
            <a:picLocks noChangeAspect="1"/>
          </p:cNvPicPr>
          <p:nvPr/>
        </p:nvPicPr>
        <p:blipFill>
          <a:blip r:embed="rId3"/>
          <a:srcRect t="31131" b="1661"/>
          <a:stretch/>
        </p:blipFill>
        <p:spPr>
          <a:xfrm>
            <a:off x="475488" y="833438"/>
            <a:ext cx="3810000" cy="3833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406" y="787807"/>
            <a:ext cx="3809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0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 Overview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4570193" y="1761664"/>
            <a:ext cx="3812134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190500" indent="-190500" algn="l">
              <a:lnSpc>
                <a:spcPts val="1680"/>
              </a:lnSpc>
              <a:buSzPct val="100000"/>
              <a:buChar char="•"/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Handling multiple transactions, savings goals, and expenses can be overwhelming.</a:t>
            </a:r>
            <a:endParaRPr lang="en-US" sz="1050" dirty="0"/>
          </a:p>
          <a:p>
            <a:pPr marL="190500" indent="-190500" algn="l">
              <a:lnSpc>
                <a:spcPts val="1680"/>
              </a:lnSpc>
              <a:buSzPct val="100000"/>
              <a:buChar char="•"/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100" b="1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AI-Based Personal Budget Manager</a:t>
            </a: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simplifies financial management through AI and automation.</a:t>
            </a:r>
            <a:endParaRPr lang="en-US" sz="1050" dirty="0"/>
          </a:p>
          <a:p>
            <a:pPr marL="190500" indent="-190500" algn="l">
              <a:lnSpc>
                <a:spcPts val="1680"/>
              </a:lnSpc>
              <a:buSzPct val="100000"/>
              <a:buChar char="•"/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for </a:t>
            </a:r>
            <a:r>
              <a:rPr lang="en-US" sz="1100" b="1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everyone</a:t>
            </a: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Students, Professionals, and Businesses.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356" y="-23812"/>
            <a:ext cx="9143398" cy="471487"/>
          </a:xfrm>
          <a:prstGeom prst="roundRect">
            <a:avLst>
              <a:gd name="adj" fmla="val -193940"/>
            </a:avLst>
          </a:prstGeom>
          <a:solidFill>
            <a:srgbClr val="F8FCF4"/>
          </a:solidFill>
          <a:ln/>
        </p:spPr>
      </p:sp>
      <p:sp>
        <p:nvSpPr>
          <p:cNvPr id="7" name="Text 3"/>
          <p:cNvSpPr/>
          <p:nvPr/>
        </p:nvSpPr>
        <p:spPr>
          <a:xfrm>
            <a:off x="-23812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  <p:txBody>
          <a:bodyPr wrap="square" lIns="6615" tIns="607219" rIns="6615" bIns="607219" rtlCol="0" anchor="ctr"/>
          <a:lstStyle/>
          <a:p>
            <a:pPr algn="ctr">
              <a:lnSpc>
                <a:spcPts val="1969"/>
              </a:lnSpc>
            </a:pPr>
            <a:endParaRPr lang="en-US" sz="1575" dirty="0"/>
          </a:p>
        </p:txBody>
      </p:sp>
      <p:sp>
        <p:nvSpPr>
          <p:cNvPr id="8" name="Shape 4"/>
          <p:cNvSpPr/>
          <p:nvPr/>
        </p:nvSpPr>
        <p:spPr>
          <a:xfrm>
            <a:off x="9048788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9" name="Shape 5"/>
          <p:cNvSpPr/>
          <p:nvPr/>
        </p:nvSpPr>
        <p:spPr>
          <a:xfrm>
            <a:off x="356" y="5053064"/>
            <a:ext cx="9143398" cy="119062"/>
          </a:xfrm>
          <a:prstGeom prst="roundRect">
            <a:avLst>
              <a:gd name="adj" fmla="val -768003"/>
            </a:avLst>
          </a:prstGeom>
          <a:solidFill>
            <a:srgbClr val="F8FCF4"/>
          </a:solidFill>
          <a:ln/>
        </p:spPr>
      </p:sp>
      <p:sp>
        <p:nvSpPr>
          <p:cNvPr id="10" name="Text 6"/>
          <p:cNvSpPr/>
          <p:nvPr/>
        </p:nvSpPr>
        <p:spPr>
          <a:xfrm>
            <a:off x="190500" y="142875"/>
            <a:ext cx="880805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67670" y="3504964"/>
            <a:ext cx="410006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CONTROL OF YOUR FINANCES WITH AI-POWERED EFFICIENCY!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67670" y="1241399"/>
            <a:ext cx="393000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MANAGING PERSONAL FINANCES CAN BE CHALLENGING.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F8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80854" y="1308141"/>
            <a:ext cx="6787307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880"/>
              </a:lnSpc>
            </a:pPr>
            <a:r>
              <a:rPr lang="en-US" sz="2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JUSTIFICATION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91853" y="2190814"/>
            <a:ext cx="6786562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688"/>
              </a:lnSpc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Financial literacy and management are crucial in today's economy. Many individuals struggle with:</a:t>
            </a: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☐"/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Overspending</a:t>
            </a: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☐"/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Poor savings Habits </a:t>
            </a: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☐"/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Disorganized financial records</a:t>
            </a:r>
            <a:endParaRPr lang="en-US" sz="1350" dirty="0"/>
          </a:p>
          <a:p>
            <a:pPr algn="l">
              <a:lnSpc>
                <a:spcPts val="1688"/>
              </a:lnSpc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This project seeks to address these challenges by providing a smart, automated solution that: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144800" y="1668449"/>
            <a:ext cx="2908186" cy="0"/>
          </a:xfrm>
          <a:prstGeom prst="line">
            <a:avLst/>
          </a:prstGeom>
          <a:solidFill>
            <a:srgbClr val="F8FCF4"/>
          </a:solidFill>
          <a:ln w="21167">
            <a:solidFill>
              <a:srgbClr val="1A1E1A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8426476" y="-3149"/>
            <a:ext cx="1047750" cy="1047750"/>
          </a:xfrm>
          <a:prstGeom prst="ellipse">
            <a:avLst/>
          </a:prstGeom>
          <a:solidFill>
            <a:srgbClr val="F8FCF4"/>
          </a:solidFill>
          <a:ln/>
        </p:spPr>
        <p:txBody>
          <a:bodyPr wrap="square" lIns="58208" tIns="123693" rIns="58208" bIns="123693" rtlCol="0" anchor="ctr"/>
          <a:lstStyle/>
          <a:p>
            <a:pPr algn="ctr">
              <a:lnSpc>
                <a:spcPts val="1969"/>
              </a:lnSpc>
            </a:pP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9635" y="3401932"/>
            <a:ext cx="176212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and access mobile transactions in one place. 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9635" y="3164457"/>
            <a:ext cx="1762126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MPESA INTEGRATION: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0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Key Features</a:t>
            </a:r>
            <a:endParaRPr lang="en-US" sz="3000" dirty="0"/>
          </a:p>
        </p:txBody>
      </p:sp>
      <p:pic>
        <p:nvPicPr>
          <p:cNvPr id="6" name="Image 0" descr="https://pitch-assets-ccb95893-de3f-4266-973c-20049231b248.s3.eu-west-1.amazonaws.com/21909e19-7553-40fc-9a93-b6c4f720eff9?pitch-bytes=1350740&amp;pitch-content-type=image%2Fpng"/>
          <p:cNvPicPr>
            <a:picLocks noChangeAspect="1"/>
          </p:cNvPicPr>
          <p:nvPr/>
        </p:nvPicPr>
        <p:blipFill>
          <a:blip r:embed="rId3"/>
          <a:srcRect t="2970" b="13407"/>
          <a:stretch/>
        </p:blipFill>
        <p:spPr>
          <a:xfrm>
            <a:off x="479635" y="1547812"/>
            <a:ext cx="1762125" cy="1428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-23812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8" name="Shape 4"/>
          <p:cNvSpPr/>
          <p:nvPr/>
        </p:nvSpPr>
        <p:spPr>
          <a:xfrm>
            <a:off x="9048788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9" name="Shape 5"/>
          <p:cNvSpPr/>
          <p:nvPr/>
        </p:nvSpPr>
        <p:spPr>
          <a:xfrm>
            <a:off x="356" y="5053064"/>
            <a:ext cx="9143398" cy="119062"/>
          </a:xfrm>
          <a:prstGeom prst="roundRect">
            <a:avLst>
              <a:gd name="adj" fmla="val -768003"/>
            </a:avLst>
          </a:prstGeom>
          <a:solidFill>
            <a:srgbClr val="F8FCF4"/>
          </a:solidFill>
          <a:ln/>
        </p:spPr>
      </p:sp>
      <p:sp>
        <p:nvSpPr>
          <p:cNvPr id="10" name="Text 6"/>
          <p:cNvSpPr/>
          <p:nvPr/>
        </p:nvSpPr>
        <p:spPr>
          <a:xfrm>
            <a:off x="2625096" y="3529457"/>
            <a:ext cx="176212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categorizes transactions seamlessly.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625096" y="3164457"/>
            <a:ext cx="176212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EXPENSE TRACKING:</a:t>
            </a:r>
            <a:endParaRPr lang="en-US" sz="900" dirty="0"/>
          </a:p>
        </p:txBody>
      </p:sp>
      <p:pic>
        <p:nvPicPr>
          <p:cNvPr id="12" name="Image 1" descr="https://pitch-assets-ccb95893-de3f-4266-973c-20049231b248.s3.eu-west-1.amazonaws.com/7f681cd7-3728-4fab-b79c-2ad2db83c7eb?pitch-bytes=97969&amp;pitch-content-type=image%2Fjpeg"/>
          <p:cNvPicPr>
            <a:picLocks noChangeAspect="1"/>
          </p:cNvPicPr>
          <p:nvPr/>
        </p:nvPicPr>
        <p:blipFill>
          <a:blip r:embed="rId4"/>
          <a:srcRect t="3086" b="15833"/>
          <a:stretch/>
        </p:blipFill>
        <p:spPr>
          <a:xfrm>
            <a:off x="2625095" y="1547812"/>
            <a:ext cx="1762125" cy="142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70556" y="3401932"/>
            <a:ext cx="176207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and track savings objectives effortlessly.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770556" y="3164457"/>
            <a:ext cx="1761876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GOAL-BASED SAVING:</a:t>
            </a:r>
            <a:endParaRPr lang="en-US" sz="900" dirty="0"/>
          </a:p>
        </p:txBody>
      </p:sp>
      <p:pic>
        <p:nvPicPr>
          <p:cNvPr id="15" name="Image 2" descr="https://pitch-assets-ccb95893-de3f-4266-973c-20049231b248.s3.eu-west-1.amazonaws.com/ee2f8835-5b0b-4f19-abf7-2663377ac661?pitch-bytes=259130&amp;pitch-content-type=image%2Fjpeg"/>
          <p:cNvPicPr>
            <a:picLocks noChangeAspect="1"/>
          </p:cNvPicPr>
          <p:nvPr/>
        </p:nvPicPr>
        <p:blipFill>
          <a:blip r:embed="rId5"/>
          <a:srcRect t="5781" b="73"/>
          <a:stretch/>
        </p:blipFill>
        <p:spPr>
          <a:xfrm>
            <a:off x="4770556" y="1547812"/>
            <a:ext cx="1762125" cy="1428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16016" y="3529457"/>
            <a:ext cx="176207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reports, alerts and analytics for better decision-making.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916016" y="3164457"/>
            <a:ext cx="1762075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FINANCIAL INSIGHTS:</a:t>
            </a:r>
            <a:endParaRPr lang="en-US" sz="900" dirty="0"/>
          </a:p>
        </p:txBody>
      </p:sp>
      <p:pic>
        <p:nvPicPr>
          <p:cNvPr id="18" name="Image 3" descr="https://pitch-assets-ccb95893-de3f-4266-973c-20049231b248.s3.eu-west-1.amazonaws.com/5cc5ea51-b44c-4353-93fb-79651fa2a2a3?pitch-bytes=465292&amp;pitch-content-type=image%2Fjpeg"/>
          <p:cNvPicPr>
            <a:picLocks noChangeAspect="1"/>
          </p:cNvPicPr>
          <p:nvPr/>
        </p:nvPicPr>
        <p:blipFill>
          <a:blip r:embed="rId6"/>
          <a:srcRect t="18516" b="403"/>
          <a:stretch/>
        </p:blipFill>
        <p:spPr>
          <a:xfrm>
            <a:off x="6916016" y="1547812"/>
            <a:ext cx="1762125" cy="14287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56" y="-23812"/>
            <a:ext cx="9143398" cy="119063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9635" y="4026133"/>
            <a:ext cx="390043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Enables Mpesa message breakdown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9635" y="3789158"/>
            <a:ext cx="3900438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API INTEGRATION FOR CATEGORIZATION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764116" y="4027203"/>
            <a:ext cx="390435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80"/>
              </a:lnSpc>
              <a:buSzPct val="100000"/>
              <a:buChar char="•"/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insights on how to improve spending habits.</a:t>
            </a:r>
            <a:endParaRPr lang="en-US" sz="1050" dirty="0"/>
          </a:p>
          <a:p>
            <a:pPr marL="190500" indent="-190500" algn="l">
              <a:lnSpc>
                <a:spcPts val="1680"/>
              </a:lnSpc>
              <a:buSzPct val="100000"/>
              <a:buChar char="•"/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Answers financial queries and suggests budgeting strategies in real time.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64116" y="3790228"/>
            <a:ext cx="3904357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CHATBOT FOR FINANCIAL GUIDANCE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6250" y="4762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0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AI Capabilities </a:t>
            </a:r>
            <a:endParaRPr lang="en-US" sz="3000" dirty="0"/>
          </a:p>
        </p:txBody>
      </p:sp>
      <p:pic>
        <p:nvPicPr>
          <p:cNvPr id="8" name="Image 0" descr="https://pitch-assets-ccb95893-de3f-4266-973c-20049231b248.s3.eu-west-1.amazonaws.com/884f10d1-5b4f-44c1-a00a-0ae23a9eb680?pitch-bytes=36537&amp;pitch-content-type=image%2Fjpeg"/>
          <p:cNvPicPr>
            <a:picLocks noChangeAspect="1"/>
          </p:cNvPicPr>
          <p:nvPr/>
        </p:nvPicPr>
        <p:blipFill>
          <a:blip r:embed="rId3"/>
          <a:srcRect b="6661"/>
          <a:stretch/>
        </p:blipFill>
        <p:spPr>
          <a:xfrm>
            <a:off x="479635" y="1547812"/>
            <a:ext cx="3900488" cy="2047875"/>
          </a:xfrm>
          <a:prstGeom prst="rect">
            <a:avLst/>
          </a:prstGeom>
        </p:spPr>
      </p:pic>
      <p:pic>
        <p:nvPicPr>
          <p:cNvPr id="9" name="Image 1" descr="https://pitch-assets-ccb95893-de3f-4266-973c-20049231b248.s3.eu-west-1.amazonaws.com/507b918b-6b41-4986-93b3-005c6fda530f?pitch-bytes=78192&amp;pitch-content-type=image%2Fjpeg"/>
          <p:cNvPicPr>
            <a:picLocks noChangeAspect="1"/>
          </p:cNvPicPr>
          <p:nvPr/>
        </p:nvPicPr>
        <p:blipFill>
          <a:blip r:embed="rId4"/>
          <a:srcRect t="27427" b="30571"/>
          <a:stretch/>
        </p:blipFill>
        <p:spPr>
          <a:xfrm>
            <a:off x="4760523" y="1547812"/>
            <a:ext cx="3900488" cy="204787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-23812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11" name="Shape 6"/>
          <p:cNvSpPr/>
          <p:nvPr/>
        </p:nvSpPr>
        <p:spPr>
          <a:xfrm>
            <a:off x="9048788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12" name="Shape 7"/>
          <p:cNvSpPr/>
          <p:nvPr/>
        </p:nvSpPr>
        <p:spPr>
          <a:xfrm>
            <a:off x="356" y="5053064"/>
            <a:ext cx="9143398" cy="119062"/>
          </a:xfrm>
          <a:prstGeom prst="roundRect">
            <a:avLst>
              <a:gd name="adj" fmla="val -768003"/>
            </a:avLst>
          </a:prstGeom>
          <a:solidFill>
            <a:srgbClr val="F8FCF4"/>
          </a:solidFill>
          <a:ln/>
        </p:spPr>
      </p:sp>
      <p:sp>
        <p:nvSpPr>
          <p:cNvPr id="13" name="Shape 8"/>
          <p:cNvSpPr/>
          <p:nvPr/>
        </p:nvSpPr>
        <p:spPr>
          <a:xfrm>
            <a:off x="356" y="-23812"/>
            <a:ext cx="9143398" cy="119063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F8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993" y="790302"/>
            <a:ext cx="38100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880"/>
              </a:lnSpc>
            </a:pPr>
            <a:r>
              <a:rPr lang="en-US" sz="2400" b="1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Why We Stand Out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56" y="-23812"/>
            <a:ext cx="9143398" cy="471487"/>
          </a:xfrm>
          <a:prstGeom prst="roundRect">
            <a:avLst>
              <a:gd name="adj" fmla="val -193940"/>
            </a:avLst>
          </a:prstGeom>
          <a:solidFill>
            <a:srgbClr val="F8FCF4"/>
          </a:solidFill>
          <a:ln/>
        </p:spPr>
        <p:txBody>
          <a:bodyPr wrap="square" lIns="507967" tIns="55662" rIns="507967" bIns="55662" rtlCol="0" anchor="ctr"/>
          <a:lstStyle/>
          <a:p>
            <a:pPr algn="ctr">
              <a:lnSpc>
                <a:spcPts val="1969"/>
              </a:lnSpc>
            </a:pPr>
            <a:endParaRPr lang="en-US" sz="1575" dirty="0"/>
          </a:p>
        </p:txBody>
      </p:sp>
      <p:sp>
        <p:nvSpPr>
          <p:cNvPr id="5" name="Shape 2"/>
          <p:cNvSpPr/>
          <p:nvPr/>
        </p:nvSpPr>
        <p:spPr>
          <a:xfrm>
            <a:off x="-23812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6" name="Shape 3"/>
          <p:cNvSpPr/>
          <p:nvPr/>
        </p:nvSpPr>
        <p:spPr>
          <a:xfrm>
            <a:off x="9048788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7" name="Shape 4"/>
          <p:cNvSpPr/>
          <p:nvPr/>
        </p:nvSpPr>
        <p:spPr>
          <a:xfrm>
            <a:off x="356" y="5053064"/>
            <a:ext cx="9143398" cy="119062"/>
          </a:xfrm>
          <a:prstGeom prst="roundRect">
            <a:avLst>
              <a:gd name="adj" fmla="val -768003"/>
            </a:avLst>
          </a:prstGeom>
          <a:solidFill>
            <a:srgbClr val="F8FCF4"/>
          </a:solidFill>
          <a:ln/>
        </p:spPr>
      </p:sp>
      <p:sp>
        <p:nvSpPr>
          <p:cNvPr id="8" name="Text 5"/>
          <p:cNvSpPr/>
          <p:nvPr/>
        </p:nvSpPr>
        <p:spPr>
          <a:xfrm>
            <a:off x="190500" y="138113"/>
            <a:ext cx="8842028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COMPETITIVE ADVANTAGE </a:t>
            </a:r>
            <a:endParaRPr lang="en-US" sz="900" dirty="0"/>
          </a:p>
        </p:txBody>
      </p:sp>
      <p:pic>
        <p:nvPicPr>
          <p:cNvPr id="9" name="Image 0" descr="https://images.unsplash.com/photo-1588600878108-578307a3cc9d?crop=entropy&amp;cs=tinysrgb&amp;fit=max&amp;fm=jpg&amp;ixid=M3wyMTIyMnwwfDF8c2VhcmNofDF8fGNvbXBldGl0aXZlJTIwYWR2YW50YWdlfGVufDF8MHx8fDE3NDA0Njk5NTR8MA&amp;ixlib=rb-4.0.3&amp;q=80&amp;w=1080"/>
          <p:cNvPicPr>
            <a:picLocks noChangeAspect="1"/>
          </p:cNvPicPr>
          <p:nvPr/>
        </p:nvPicPr>
        <p:blipFill>
          <a:blip r:embed="rId3"/>
          <a:srcRect l="2026" r="30567"/>
          <a:stretch/>
        </p:blipFill>
        <p:spPr>
          <a:xfrm>
            <a:off x="476250" y="785742"/>
            <a:ext cx="3952875" cy="38822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8298" y="1177636"/>
            <a:ext cx="410006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400" b="1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Beyond Existing Apps: Mint, YNAB, and other budgeting tools</a:t>
            </a:r>
            <a:endParaRPr lang="en-US" sz="1350" dirty="0"/>
          </a:p>
          <a:p>
            <a:pPr algn="l">
              <a:lnSpc>
                <a:spcPts val="1688"/>
              </a:lnSpc>
            </a:pP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Real-time </a:t>
            </a:r>
            <a:r>
              <a:rPr lang="en-US" sz="1400" b="1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AI-driven financial insights.</a:t>
            </a: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Seamless </a:t>
            </a:r>
            <a:r>
              <a:rPr lang="en-US" sz="1400" b="1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M-Pesa Integration</a:t>
            </a: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for easy transaction tracking.</a:t>
            </a: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Smart </a:t>
            </a:r>
            <a:r>
              <a:rPr lang="en-US" sz="1400" b="1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AI-Powered Categorization</a:t>
            </a: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for accuracy.</a:t>
            </a:r>
            <a:endParaRPr lang="en-US" sz="1350" dirty="0"/>
          </a:p>
          <a:p>
            <a:pPr algn="l">
              <a:lnSpc>
                <a:spcPts val="1688"/>
              </a:lnSpc>
            </a:pPr>
            <a:endParaRPr lang="en-US" sz="1350" dirty="0"/>
          </a:p>
          <a:p>
            <a:pPr algn="l">
              <a:lnSpc>
                <a:spcPts val="1688"/>
              </a:lnSpc>
            </a:pPr>
            <a:r>
              <a:rPr lang="en-US" sz="1400" b="1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Makes Us Unique?</a:t>
            </a:r>
            <a:endParaRPr lang="en-US" sz="1350" dirty="0"/>
          </a:p>
          <a:p>
            <a:pPr algn="l">
              <a:lnSpc>
                <a:spcPts val="1688"/>
              </a:lnSpc>
            </a:pP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400" b="1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NLP Chatbot</a:t>
            </a: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for personalized financial guidance.</a:t>
            </a: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400" b="1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Automated Smart Budgeting</a:t>
            </a: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tailored to spending habits.</a:t>
            </a:r>
            <a:endParaRPr lang="en-US" sz="1350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400" b="1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Secure &amp; User-Friendly</a:t>
            </a:r>
            <a:r>
              <a:rPr lang="en-US" sz="14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interface.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3812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4" name="Shape 1"/>
          <p:cNvSpPr/>
          <p:nvPr/>
        </p:nvSpPr>
        <p:spPr>
          <a:xfrm>
            <a:off x="9048788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5" name="Shape 2"/>
          <p:cNvSpPr/>
          <p:nvPr/>
        </p:nvSpPr>
        <p:spPr>
          <a:xfrm>
            <a:off x="356" y="-23812"/>
            <a:ext cx="9143398" cy="119063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6" name="Shape 3"/>
          <p:cNvSpPr/>
          <p:nvPr/>
        </p:nvSpPr>
        <p:spPr>
          <a:xfrm>
            <a:off x="356" y="5053064"/>
            <a:ext cx="9143398" cy="119062"/>
          </a:xfrm>
          <a:prstGeom prst="roundRect">
            <a:avLst>
              <a:gd name="adj" fmla="val -768003"/>
            </a:avLst>
          </a:prstGeom>
          <a:solidFill>
            <a:srgbClr val="F8FCF4"/>
          </a:solidFill>
          <a:ln/>
        </p:spPr>
      </p:sp>
      <p:sp>
        <p:nvSpPr>
          <p:cNvPr id="7" name="Text 4"/>
          <p:cNvSpPr/>
          <p:nvPr/>
        </p:nvSpPr>
        <p:spPr>
          <a:xfrm>
            <a:off x="2762240" y="170"/>
            <a:ext cx="6381662" cy="5141587"/>
          </a:xfrm>
          <a:prstGeom prst="roundRect">
            <a:avLst>
              <a:gd name="adj" fmla="val -17784"/>
            </a:avLst>
          </a:prstGeom>
          <a:solidFill>
            <a:srgbClr val="F8FCF4"/>
          </a:solidFill>
          <a:ln/>
        </p:spPr>
        <p:txBody>
          <a:bodyPr wrap="square" lIns="354537" tIns="606993" rIns="354537" bIns="606993" rtlCol="0" anchor="ctr"/>
          <a:lstStyle/>
          <a:p>
            <a:pPr algn="ctr">
              <a:lnSpc>
                <a:spcPts val="1969"/>
              </a:lnSpc>
            </a:pP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5936988" y="666750"/>
            <a:ext cx="294337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69"/>
              </a:lnSpc>
            </a:pPr>
            <a:r>
              <a:rPr lang="en-US" sz="16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Financial Growth Overview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571500" y="668572"/>
            <a:ext cx="1619101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MONETIZATION STRATEGY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2713" y="1133860"/>
            <a:ext cx="161791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dirty="0">
                <a:solidFill>
                  <a:srgbClr val="446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models for sustaining app development and growth</a:t>
            </a:r>
            <a:endParaRPr lang="en-US" sz="1050" dirty="0"/>
          </a:p>
        </p:txBody>
      </p:sp>
      <p:pic>
        <p:nvPicPr>
          <p:cNvPr id="11" name="Image 0" descr="https://pitch-assets-ccb95893-de3f-4266-973c-20049231b248.s3.eu-west-1.amazonaws.com/ff003d67-a5b3-41a1-9671-e122df96a925?pitch-bytes=94566&amp;pitch-content-type=image%2F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8145" y="1128594"/>
            <a:ext cx="3802715" cy="33051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75493" y="2274192"/>
            <a:ext cx="1441108" cy="0"/>
          </a:xfrm>
          <a:prstGeom prst="line">
            <a:avLst/>
          </a:prstGeom>
          <a:solidFill>
            <a:srgbClr val="F8FCF4"/>
          </a:solidFill>
          <a:ln w="21167">
            <a:solidFill>
              <a:srgbClr val="1A1E1A"/>
            </a:solidFill>
            <a:prstDash val="solid"/>
            <a:headEnd type="none"/>
            <a:tailEnd type="none"/>
          </a:ln>
        </p:spPr>
      </p:sp>
      <p:sp>
        <p:nvSpPr>
          <p:cNvPr id="13" name="Shape 9"/>
          <p:cNvSpPr/>
          <p:nvPr/>
        </p:nvSpPr>
        <p:spPr>
          <a:xfrm>
            <a:off x="4424355" y="3011789"/>
            <a:ext cx="1196576" cy="0"/>
          </a:xfrm>
          <a:prstGeom prst="line">
            <a:avLst/>
          </a:prstGeom>
          <a:solidFill>
            <a:srgbClr val="F8FCF4"/>
          </a:solidFill>
          <a:ln w="21167">
            <a:solidFill>
              <a:srgbClr val="1A1E1A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4675062" y="3676965"/>
            <a:ext cx="941539" cy="0"/>
          </a:xfrm>
          <a:prstGeom prst="line">
            <a:avLst/>
          </a:prstGeom>
          <a:solidFill>
            <a:srgbClr val="F8FCF4"/>
          </a:solidFill>
          <a:ln w="21167">
            <a:solidFill>
              <a:srgbClr val="1A1E1A"/>
            </a:solidFill>
            <a:prstDash val="solid"/>
            <a:headEnd type="none"/>
            <a:tailEnd type="none"/>
          </a:ln>
        </p:spPr>
      </p:sp>
      <p:sp>
        <p:nvSpPr>
          <p:cNvPr id="15" name="Text 11"/>
          <p:cNvSpPr/>
          <p:nvPr/>
        </p:nvSpPr>
        <p:spPr>
          <a:xfrm>
            <a:off x="3356185" y="3547472"/>
            <a:ext cx="121791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2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Freemium Model</a:t>
            </a:r>
            <a:endParaRPr lang="en-US" sz="1575" dirty="0"/>
          </a:p>
        </p:txBody>
      </p:sp>
      <p:sp>
        <p:nvSpPr>
          <p:cNvPr id="16" name="Text 12"/>
          <p:cNvSpPr/>
          <p:nvPr/>
        </p:nvSpPr>
        <p:spPr>
          <a:xfrm>
            <a:off x="2877967" y="2824832"/>
            <a:ext cx="154438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Time Purchase &amp;</a:t>
            </a:r>
            <a:endParaRPr lang="en-US" sz="1200" dirty="0"/>
          </a:p>
          <a:p>
            <a:pPr algn="l">
              <a:lnSpc>
                <a:spcPts val="1500"/>
              </a:lnSpc>
            </a:pPr>
            <a:r>
              <a:rPr lang="en-US" sz="12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Subscription models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77967" y="2080937"/>
            <a:ext cx="150976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Patnerships with </a:t>
            </a:r>
            <a:endParaRPr lang="en-US" sz="1200" dirty="0"/>
          </a:p>
          <a:p>
            <a:pPr algn="l">
              <a:lnSpc>
                <a:spcPts val="1500"/>
              </a:lnSpc>
            </a:pPr>
            <a:r>
              <a:rPr lang="en-US" sz="1200" b="0" dirty="0">
                <a:solidFill>
                  <a:srgbClr val="1A1E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Financial institutions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14668E9-DA9E-F8E2-0549-71C192251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665513"/>
              </p:ext>
            </p:extLst>
          </p:nvPr>
        </p:nvGraphicFramePr>
        <p:xfrm>
          <a:off x="1074260" y="473186"/>
          <a:ext cx="7065819" cy="4541564"/>
        </p:xfrm>
        <a:graphic>
          <a:graphicData uri="http://schemas.openxmlformats.org/drawingml/2006/table">
            <a:tbl>
              <a:tblPr firstRow="1" firstCol="1" bandRow="1">
                <a:tableStyleId>{638B1855-1B75-4FBE-930C-398BA8C253C6}</a:tableStyleId>
              </a:tblPr>
              <a:tblGrid>
                <a:gridCol w="1552545">
                  <a:extLst>
                    <a:ext uri="{9D8B030D-6E8A-4147-A177-3AD203B41FA5}">
                      <a16:colId xmlns:a16="http://schemas.microsoft.com/office/drawing/2014/main" val="2221667865"/>
                    </a:ext>
                  </a:extLst>
                </a:gridCol>
                <a:gridCol w="1848206">
                  <a:extLst>
                    <a:ext uri="{9D8B030D-6E8A-4147-A177-3AD203B41FA5}">
                      <a16:colId xmlns:a16="http://schemas.microsoft.com/office/drawing/2014/main" val="1976432844"/>
                    </a:ext>
                  </a:extLst>
                </a:gridCol>
                <a:gridCol w="3665068">
                  <a:extLst>
                    <a:ext uri="{9D8B030D-6E8A-4147-A177-3AD203B41FA5}">
                      <a16:colId xmlns:a16="http://schemas.microsoft.com/office/drawing/2014/main" val="1318862262"/>
                    </a:ext>
                  </a:extLst>
                </a:gridCol>
              </a:tblGrid>
              <a:tr h="1878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Week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Phase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Tasks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810345"/>
                  </a:ext>
                </a:extLst>
              </a:tr>
              <a:tr h="488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Week 1-2 (Feb 3 - Feb 16)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Project Planning &amp; Setup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Define project goals and objectives </a:t>
                      </a:r>
                      <a:endParaRPr lang="en-US" sz="900" kern="10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Form the development team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Set up Trello for task management 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888574"/>
                  </a:ext>
                </a:extLst>
              </a:tr>
              <a:tr h="7888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Week 3-4 (Feb 17 - Mar 2)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System Design &amp; Documentation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Develop system architecture and database schema </a:t>
                      </a: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900" kern="100" dirty="0"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Create wireframes and UI mock-ups </a:t>
                      </a:r>
                      <a:endParaRPr lang="en-US" sz="900" kern="10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900" kern="100" dirty="0">
                          <a:effectLst/>
                          <a:latin typeface="Century gothic" panose="020B0502020202020204" pitchFamily="34" charset="0"/>
                        </a:rPr>
                        <a:t>- Setup</a:t>
                      </a: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GitHub for version control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Design user interfaces - Draft and finalize the project proposal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060370"/>
                  </a:ext>
                </a:extLst>
              </a:tr>
              <a:tr h="488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Week 5-6 (Mar 3 - Mar 16)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Research &amp; Literature Review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Study relevant scientific papers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Start drafting a research paper on the project methodology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8285"/>
                  </a:ext>
                </a:extLst>
              </a:tr>
              <a:tr h="488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Week 7-9 (Mar 17 - Apr 6)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Core Development Phase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Implement core functionalities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Develop backend, frontend, authentication, and database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88464"/>
                  </a:ext>
                </a:extLst>
              </a:tr>
              <a:tr h="488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Week 10 (Apr 7 - Apr 13)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Initial Demonstration &amp; Feedback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Conduct MVP demo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Collect feedback for refinement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82220"/>
                  </a:ext>
                </a:extLst>
              </a:tr>
              <a:tr h="488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Week 11-12 (Apr 14 - Apr 27)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Testing &amp; Deployment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Perform unit and integration testing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– Deploy the minimum viable product (MVP)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257656"/>
                  </a:ext>
                </a:extLst>
              </a:tr>
              <a:tr h="7888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Week 13 (Apr 28 - May 2)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>
                          <a:effectLst/>
                          <a:latin typeface="Century gothic" panose="020B0502020202020204" pitchFamily="34" charset="0"/>
                        </a:rPr>
                        <a:t>Finalization &amp; Submission</a:t>
                      </a:r>
                      <a:endParaRPr lang="en-KE" sz="900" kern="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Apply final refinements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Complete research paper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KE" sz="900" kern="100" dirty="0">
                          <a:effectLst/>
                          <a:latin typeface="Century gothic" panose="020B0502020202020204" pitchFamily="34" charset="0"/>
                        </a:rPr>
                        <a:t>- Prepare and deliver the final presentation</a:t>
                      </a:r>
                      <a:endParaRPr lang="en-KE" sz="900" kern="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39" marR="6839" marT="6839" marB="68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3982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C847B87F-6D0A-73F1-1B1C-278835231A6F}"/>
              </a:ext>
            </a:extLst>
          </p:cNvPr>
          <p:cNvSpPr txBox="1"/>
          <p:nvPr/>
        </p:nvSpPr>
        <p:spPr>
          <a:xfrm>
            <a:off x="2167703" y="134283"/>
            <a:ext cx="223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F0502020204030204" pitchFamily="34" charset="0"/>
              </a:rPr>
              <a:t>PROJECT TIMELINE</a:t>
            </a:r>
            <a:endParaRPr lang="en-KE" dirty="0">
              <a:latin typeface="Century gothic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F8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6" y="-23812"/>
            <a:ext cx="9143398" cy="471487"/>
          </a:xfrm>
          <a:prstGeom prst="roundRect">
            <a:avLst>
              <a:gd name="adj" fmla="val -193940"/>
            </a:avLst>
          </a:prstGeom>
          <a:solidFill>
            <a:srgbClr val="F8FCF4"/>
          </a:solidFill>
          <a:ln/>
        </p:spPr>
        <p:txBody>
          <a:bodyPr wrap="square" lIns="507967" tIns="55662" rIns="507967" bIns="55662" rtlCol="0" anchor="ctr"/>
          <a:lstStyle/>
          <a:p>
            <a:pPr algn="ctr">
              <a:lnSpc>
                <a:spcPts val="1969"/>
              </a:lnSpc>
            </a:pPr>
            <a:endParaRPr lang="en-US" sz="1575" dirty="0"/>
          </a:p>
        </p:txBody>
      </p:sp>
      <p:sp>
        <p:nvSpPr>
          <p:cNvPr id="4" name="Shape 1"/>
          <p:cNvSpPr/>
          <p:nvPr/>
        </p:nvSpPr>
        <p:spPr>
          <a:xfrm>
            <a:off x="-23812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5" name="Shape 2"/>
          <p:cNvSpPr/>
          <p:nvPr/>
        </p:nvSpPr>
        <p:spPr>
          <a:xfrm>
            <a:off x="9048788" y="0"/>
            <a:ext cx="119063" cy="5143500"/>
          </a:xfrm>
          <a:prstGeom prst="roundRect">
            <a:avLst>
              <a:gd name="adj" fmla="val -767997"/>
            </a:avLst>
          </a:prstGeom>
          <a:solidFill>
            <a:srgbClr val="F8FCF4"/>
          </a:solidFill>
          <a:ln/>
        </p:spPr>
      </p:sp>
      <p:sp>
        <p:nvSpPr>
          <p:cNvPr id="6" name="Shape 3"/>
          <p:cNvSpPr/>
          <p:nvPr/>
        </p:nvSpPr>
        <p:spPr>
          <a:xfrm>
            <a:off x="356" y="5053064"/>
            <a:ext cx="9143398" cy="119062"/>
          </a:xfrm>
          <a:prstGeom prst="roundRect">
            <a:avLst>
              <a:gd name="adj" fmla="val -768003"/>
            </a:avLst>
          </a:prstGeom>
          <a:solidFill>
            <a:srgbClr val="F8FCF4"/>
          </a:solidFill>
          <a:ln/>
        </p:spPr>
      </p:sp>
      <p:sp>
        <p:nvSpPr>
          <p:cNvPr id="7" name="Text 4"/>
          <p:cNvSpPr/>
          <p:nvPr/>
        </p:nvSpPr>
        <p:spPr>
          <a:xfrm>
            <a:off x="190500" y="142875"/>
            <a:ext cx="880805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1" kern="0" spc="204" dirty="0">
                <a:solidFill>
                  <a:srgbClr val="6F8A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CALL TO ACTION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 rot="5400000">
            <a:off x="4229053" y="4833042"/>
            <a:ext cx="680080" cy="0"/>
          </a:xfrm>
          <a:prstGeom prst="line">
            <a:avLst/>
          </a:prstGeom>
          <a:solidFill>
            <a:srgbClr val="F8FCF4"/>
          </a:solidFill>
          <a:ln w="10583">
            <a:solidFill>
              <a:srgbClr val="F8FCF4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661976" y="2619871"/>
            <a:ext cx="782409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160"/>
              </a:lnSpc>
            </a:pPr>
            <a:r>
              <a:rPr lang="en-US" sz="1800" b="0" dirty="0">
                <a:solidFill>
                  <a:srgbClr val="F8FC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Financial Freedom, One Smart Budget at a Time!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509</Words>
  <Application>Microsoft Office PowerPoint</Application>
  <PresentationFormat>On-screen Show (16:9)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DM Sans</vt:lpstr>
      <vt:lpstr>Fraunces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✨AI · AI Finance App Pitch</dc:title>
  <dc:subject>PptxGenJS Presentation</dc:subject>
  <dc:creator>Pitch Software GmbH</dc:creator>
  <cp:lastModifiedBy>Lelgo Isaac</cp:lastModifiedBy>
  <cp:revision>3</cp:revision>
  <dcterms:created xsi:type="dcterms:W3CDTF">2025-02-25T19:01:59Z</dcterms:created>
  <dcterms:modified xsi:type="dcterms:W3CDTF">2025-02-27T03:16:41Z</dcterms:modified>
</cp:coreProperties>
</file>